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Medium"/>
      <p:regular r:id="rId201315"/>
    </p:embeddedFont>
    <p:embeddedFont>
      <p:font typeface="Public Sans SemiBold"/>
      <p:regular r:id="rId201316"/>
    </p:embeddedFont>
    <p:embeddedFont>
      <p:font typeface="Public Sans Bold"/>
      <p:regular r:id="rId201317"/>
    </p:embeddedFont>
    <p:embeddedFont>
      <p:font typeface="Sora SemiBold"/>
      <p:regular r:id="rId201318"/>
    </p:embeddedFont>
    <p:embeddedFont>
      <p:font typeface="Sora Extra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990600"/>
            <a:ext cx="87564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APEX PLANET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5156" y="1274366"/>
            <a:ext cx="814684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108" kern="100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Sales Performance</a:t>
            </a:r>
            <a:endParaRPr lang="en-US" sz="72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200" spc="-108" kern="100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 &amp; Customer Insights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65156" y="5187950"/>
            <a:ext cx="8756431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Storytelling &amp; Statistical Validation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5156" y="5911850"/>
            <a:ext cx="814684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Analytics Internship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Presented by: Sowmya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420607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BUSINESS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4206075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Turn sales data into better decisions.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19498"/>
            <a:ext cx="4206075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Understand sales performance and customer behavior to identify opportunities for better business decision-making.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272749" y="723900"/>
            <a:ext cx="6309361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How is overall sales performance?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272749" y="1219498"/>
            <a:ext cx="6309361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Which products contribute most to sales?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272749" y="1715095"/>
            <a:ext cx="6309361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customer and age-segment patterns can we identify?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272749" y="2210693"/>
            <a:ext cx="6309361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relationships exist between sales variables?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272749" y="2706291"/>
            <a:ext cx="6309361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Is the observed gender difference in average transaction sales statistically significant?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9585" y="3583186"/>
            <a:ext cx="2647884" cy="1314351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578" y="3837186"/>
            <a:ext cx="85832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63578" y="4161036"/>
            <a:ext cx="2139896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863578" y="4334966"/>
            <a:ext cx="213989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Business Question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84465" y="3583186"/>
            <a:ext cx="2647884" cy="1314351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8459" y="3837186"/>
            <a:ext cx="90554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3638459" y="4161036"/>
            <a:ext cx="2139896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3638459" y="4334966"/>
            <a:ext cx="213989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59346" y="3583186"/>
            <a:ext cx="2647884" cy="1314351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3340" y="3837186"/>
            <a:ext cx="91199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6413340" y="4161036"/>
            <a:ext cx="2139896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413340" y="4334966"/>
            <a:ext cx="213989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Insight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34226" y="3583186"/>
            <a:ext cx="2647884" cy="1314351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8220" y="3837186"/>
            <a:ext cx="91120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9188220" y="4161036"/>
            <a:ext cx="2139896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5" name="Text 23"/>
          <p:cNvSpPr/>
          <p:nvPr/>
        </p:nvSpPr>
        <p:spPr>
          <a:xfrm>
            <a:off x="9188220" y="4334966"/>
            <a:ext cx="213989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Decision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272749" y="1098848"/>
            <a:ext cx="6309361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27" name="Shape 25"/>
          <p:cNvSpPr/>
          <p:nvPr/>
        </p:nvSpPr>
        <p:spPr>
          <a:xfrm>
            <a:off x="5272749" y="1594445"/>
            <a:ext cx="6309361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28" name="Shape 26"/>
          <p:cNvSpPr/>
          <p:nvPr/>
        </p:nvSpPr>
        <p:spPr>
          <a:xfrm>
            <a:off x="5272749" y="2090043"/>
            <a:ext cx="6309361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29" name="Shape 27"/>
          <p:cNvSpPr/>
          <p:nvPr/>
        </p:nvSpPr>
        <p:spPr>
          <a:xfrm>
            <a:off x="5272749" y="2585641"/>
            <a:ext cx="6309361" cy="12700"/>
          </a:xfrm>
          <a:prstGeom prst="rect">
            <a:avLst/>
          </a:prstGeom>
          <a:solidFill>
            <a:srgbClr val="A7B3BE"/>
          </a:solidFill>
          <a:ln/>
        </p:spPr>
      </p:sp>
      <p:sp>
        <p:nvSpPr>
          <p:cNvPr id="30" name="Text 28"/>
          <p:cNvSpPr/>
          <p:nvPr/>
        </p:nvSpPr>
        <p:spPr>
          <a:xfrm>
            <a:off x="11402132" y="6451898"/>
            <a:ext cx="78956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ANALYTICAL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From Raw Data to Business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64382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1,000 transactions analyzed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2071092"/>
            <a:ext cx="109725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analysis progressed from data quality validation to exploratory analysis, interactive dashboarding, customer segmentation, and statistical validation.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585" y="2693392"/>
            <a:ext cx="3594010" cy="1314351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3578" y="2947392"/>
            <a:ext cx="85832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863578" y="3271242"/>
            <a:ext cx="3086023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863578" y="3445173"/>
            <a:ext cx="30860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30592" y="2693392"/>
            <a:ext cx="3530512" cy="1314351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4585" y="2947392"/>
            <a:ext cx="90554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4584585" y="3271242"/>
            <a:ext cx="3022425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584585" y="3445173"/>
            <a:ext cx="302252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EDA &amp; SQL Analysis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988100" y="2693392"/>
            <a:ext cx="3594010" cy="1314351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2094" y="2947392"/>
            <a:ext cx="91199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8242094" y="3271242"/>
            <a:ext cx="3086023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8242094" y="3445173"/>
            <a:ext cx="30860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Power BI Dashboard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9585" y="4134743"/>
            <a:ext cx="3594010" cy="1314351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578" y="4388743"/>
            <a:ext cx="91120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863578" y="4712593"/>
            <a:ext cx="3086023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863578" y="4886523"/>
            <a:ext cx="30860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 Segmentation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330592" y="4134743"/>
            <a:ext cx="3530512" cy="1314351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4585" y="4388743"/>
            <a:ext cx="915469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05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4584585" y="4712593"/>
            <a:ext cx="3022425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5" name="Text 23"/>
          <p:cNvSpPr/>
          <p:nvPr/>
        </p:nvSpPr>
        <p:spPr>
          <a:xfrm>
            <a:off x="4584585" y="4886523"/>
            <a:ext cx="302252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Statistical Validation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988100" y="4134743"/>
            <a:ext cx="3594010" cy="1314351"/>
          </a:xfrm>
          <a:prstGeom prst="rect">
            <a:avLst/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2094" y="4388743"/>
            <a:ext cx="91060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06</a:t>
            </a:r>
            <a:endParaRPr lang="en-US" sz="1850" dirty="0"/>
          </a:p>
        </p:txBody>
      </p:sp>
      <p:sp>
        <p:nvSpPr>
          <p:cNvPr id="28" name="Shape 26"/>
          <p:cNvSpPr/>
          <p:nvPr/>
        </p:nvSpPr>
        <p:spPr>
          <a:xfrm>
            <a:off x="8242094" y="4712593"/>
            <a:ext cx="3086023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9" name="Text 27"/>
          <p:cNvSpPr/>
          <p:nvPr/>
        </p:nvSpPr>
        <p:spPr>
          <a:xfrm>
            <a:off x="8242094" y="4886523"/>
            <a:ext cx="30860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Business Recommendations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398263" y="6451898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6239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PERFORMANCE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846163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Overall Sales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517180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dataset contains 1,000 sales transactions generating approximately ₹139.40 million in total sales.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008015"/>
            <a:ext cx="2647884" cy="2287588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236615"/>
            <a:ext cx="24192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Total Sales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8179" y="3644602"/>
            <a:ext cx="2190695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₹139.40M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3384465" y="3008015"/>
            <a:ext cx="2647884" cy="2287588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9" name="Text 7"/>
          <p:cNvSpPr/>
          <p:nvPr/>
        </p:nvSpPr>
        <p:spPr>
          <a:xfrm>
            <a:off x="3613060" y="3236615"/>
            <a:ext cx="24192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Transactions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13060" y="3644602"/>
            <a:ext cx="2190695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1B2632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1,000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6159346" y="3008015"/>
            <a:ext cx="2647884" cy="2287588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2" name="Text 10"/>
          <p:cNvSpPr/>
          <p:nvPr/>
        </p:nvSpPr>
        <p:spPr>
          <a:xfrm>
            <a:off x="6387940" y="3236615"/>
            <a:ext cx="24192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Quantity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87940" y="3644602"/>
            <a:ext cx="2190695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1B2632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5.44</a:t>
            </a:r>
            <a:endParaRPr lang="en-US" sz="5600" dirty="0"/>
          </a:p>
        </p:txBody>
      </p:sp>
      <p:sp>
        <p:nvSpPr>
          <p:cNvPr id="14" name="Shape 12"/>
          <p:cNvSpPr/>
          <p:nvPr/>
        </p:nvSpPr>
        <p:spPr>
          <a:xfrm>
            <a:off x="8934226" y="3008015"/>
            <a:ext cx="2647884" cy="2287588"/>
          </a:xfrm>
          <a:prstGeom prst="rect">
            <a:avLst/>
          </a:prstGeom>
          <a:solidFill>
            <a:srgbClr val="E7EAF0"/>
          </a:solidFill>
          <a:ln/>
        </p:spPr>
      </p:sp>
      <p:sp>
        <p:nvSpPr>
          <p:cNvPr id="15" name="Text 13"/>
          <p:cNvSpPr/>
          <p:nvPr/>
        </p:nvSpPr>
        <p:spPr>
          <a:xfrm>
            <a:off x="9162821" y="3236615"/>
            <a:ext cx="241928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Average Order Value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62821" y="3644602"/>
            <a:ext cx="2190695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1B2632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₹139.40K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11397766" y="6451898"/>
            <a:ext cx="79392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48626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PRODUCT MIX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4876678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Laptop, Mobile, and Book lead product sales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474615"/>
            <a:ext cx="4876678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Prioritize high-performing products for inventory planning and promotional campaigns; profitability is not assessed because profit data is unavailable.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432" y="2492276"/>
            <a:ext cx="4876678" cy="18733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54708"/>
            <a:ext cx="623554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CUSTOMER MIX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438473"/>
            <a:ext cx="5625959" cy="1365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Male customers contributed somewhat higher total sales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997498"/>
            <a:ext cx="5625959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600" spc="-112" kern="100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₹72.46M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09585" y="3924598"/>
            <a:ext cx="5625959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Male customers contributed somewhat higher total sales in the sample.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4744343"/>
            <a:ext cx="5168870" cy="336649"/>
          </a:xfrm>
          <a:prstGeom prst="roundRect">
            <a:avLst>
              <a:gd name="adj" fmla="val 7696"/>
            </a:avLst>
          </a:prstGeom>
          <a:noFill/>
          <a:ln w="635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9062" y="4809034"/>
            <a:ext cx="551950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OBSERVED DIFFERENCE → STATISTICAL VALIDATION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585" y="5274667"/>
            <a:ext cx="562595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Does the observed difference represent a statistically meaningful difference in average transaction sales?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1902" y="2340670"/>
            <a:ext cx="3670208" cy="21765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399354" y="6451898"/>
            <a:ext cx="79234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85715"/>
            <a:ext cx="533386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669480"/>
            <a:ext cx="5333867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Adult segment was the strongest contributor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3795613"/>
            <a:ext cx="533386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Age-based segmentation can help identify customer groups for targeted marketing and sales strategies.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48244" y="2385715"/>
            <a:ext cx="1676358" cy="2086471"/>
          </a:xfrm>
          <a:prstGeom prst="roundRect">
            <a:avLst>
              <a:gd name="adj" fmla="val 1932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02237" y="2715915"/>
            <a:ext cx="142236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AGE &lt; 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02237" y="2999680"/>
            <a:ext cx="116837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076998" y="2385715"/>
            <a:ext cx="1676358" cy="2086471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8305592" y="2690515"/>
            <a:ext cx="144776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AGE 30–59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5592" y="2974280"/>
            <a:ext cx="121917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Adult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05592" y="3541316"/>
            <a:ext cx="121917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Strongest contributor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905752" y="2385715"/>
            <a:ext cx="1676358" cy="2086471"/>
          </a:xfrm>
          <a:prstGeom prst="roundRect">
            <a:avLst>
              <a:gd name="adj" fmla="val 1932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59746" y="2715915"/>
            <a:ext cx="142236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AGE ≥ 60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159746" y="2999680"/>
            <a:ext cx="116837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Senior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404116" y="6451898"/>
            <a:ext cx="7875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RELATIONSHIPS IN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Quantity and unit price show moderate positive relationships with sales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19498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Correlation indicates association, not causation.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108424"/>
            <a:ext cx="5333867" cy="2364085"/>
          </a:xfrm>
          <a:prstGeom prst="roundRect">
            <a:avLst>
              <a:gd name="adj" fmla="val 1370"/>
            </a:avLst>
          </a:prstGeom>
          <a:solidFill>
            <a:srgbClr val="E7EAF0"/>
          </a:solidFill>
          <a:ln/>
        </p:spPr>
      </p:sp>
      <p:sp>
        <p:nvSpPr>
          <p:cNvPr id="6" name="Text 4"/>
          <p:cNvSpPr/>
          <p:nvPr/>
        </p:nvSpPr>
        <p:spPr>
          <a:xfrm>
            <a:off x="888978" y="3387824"/>
            <a:ext cx="505447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Quantity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Total Sales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8978" y="3795812"/>
            <a:ext cx="4775081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144" kern="100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r = 0.647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888978" y="4926112"/>
            <a:ext cx="505447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Moderate positive relationship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48244" y="3108424"/>
            <a:ext cx="5333867" cy="2364085"/>
          </a:xfrm>
          <a:prstGeom prst="roundRect">
            <a:avLst>
              <a:gd name="adj" fmla="val 1370"/>
            </a:avLst>
          </a:prstGeom>
          <a:solidFill>
            <a:srgbClr val="E7EAF0"/>
          </a:solidFill>
          <a:ln/>
        </p:spPr>
      </p:sp>
      <p:sp>
        <p:nvSpPr>
          <p:cNvPr id="10" name="Text 8"/>
          <p:cNvSpPr/>
          <p:nvPr/>
        </p:nvSpPr>
        <p:spPr>
          <a:xfrm>
            <a:off x="6527637" y="3387824"/>
            <a:ext cx="505447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Unit Price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Total Sales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27637" y="3795812"/>
            <a:ext cx="4775081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144" kern="100" dirty="0">
                <a:solidFill>
                  <a:srgbClr val="0E7C86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r = 0.686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527637" y="4926112"/>
            <a:ext cx="5054474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Moderate positive relationship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STATISTICAL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Do average transaction sales differ by gender?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64382"/>
            <a:ext cx="533386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H₀: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There is no statistically significant difference in average Total_Sales between Male and Female customers.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248244" y="1564382"/>
            <a:ext cx="533386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H₁: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There is a statistically significant difference in average Total_Sales between Male and Female customers.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2697163"/>
            <a:ext cx="34543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Test: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Welch's Independent Two-Sample t-test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68691" y="2697163"/>
            <a:ext cx="345431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Significance level: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α = 0.05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7797" y="2697163"/>
            <a:ext cx="345431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Confidence level: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95%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3516908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Business Question → H₀/H₁ → Statistical Test → Evidence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99056" y="6451898"/>
            <a:ext cx="79263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82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STATISTICAL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3366"/>
            <a:ext cx="6212724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test did not establish a significant gender difference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19498"/>
          <a:ext cx="6212724" cy="914400"/>
        </p:xfrm>
        <a:graphic>
          <a:graphicData uri="http://schemas.openxmlformats.org/drawingml/2006/table">
            <a:tbl>
              <a:tblPr/>
              <a:tblGrid>
                <a:gridCol w="3106362"/>
                <a:gridCol w="3106362"/>
              </a:tblGrid>
              <a:tr h="306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spc="92" kern="10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METRIC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spc="92" kern="100" dirty="0">
                          <a:solidFill>
                            <a:srgbClr val="1B2632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RESULT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8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Male sample size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511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8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Female sample size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489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8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Male mean transaction sales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₹141,807.34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8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Female mean transaction sales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₹136,883.21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8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Mean difference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₹4,924.13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8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t-statistic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0.6826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8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p-value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0.4950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8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95% Confidence Interval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−₹9,231.58 to ₹19,079.85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8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Cohen's d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0.0431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1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Decision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Do not reject H₀</a:t>
                      </a:r>
                      <a:endParaRPr lang="en-US" sz="14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38099" marB="38099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8568" y="2333625"/>
            <a:ext cx="3083542" cy="2190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28523" y="6451898"/>
            <a:ext cx="76317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2026-10-05T04:06:12Z</dcterms:created>
  <dcterms:modified xsi:type="dcterms:W3CDTF">2026-10-05T04:06:12Z</dcterms:modified>
</cp:coreProperties>
</file>